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演示一个基于51单片机的伪3D游戏项目。这个项目的核心是利用经典的射线投射技术，在一块普通的LCD12864显示屏上，模拟出令人惊叹的3D迷宫效果。接下来，我将详细介绍项目的实现原理和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首先，我们来了解一下项目的整体情况。这个项目的目标是利用廉价的51单片机和一块单色LCD屏，实现一个伪3D迷宫游戏。我们使用了射线投射技术来模拟3D效果。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硬件方面，核心是STC89C52单片机，配合LCD12864显示模块和24C02B存储芯片。这三个核心部件构成了我们的硬件基础。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软件上，我们实现了完整的菜单系统、3D渲染、玩家控制、碰撞检测、存档和通关判定等核心功能，确保了游戏的可玩性和完整性。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程序的核心架构是一个状态机。我们定义了三个主要状态：菜单状态、关卡选择状态和游戏运行状态。程序在一个无限循环中，根据当前的状态变量来执行不同的逻辑。比如，在菜单状态下，程序会监听按键来切换选项；进入游戏状态后，程序就会开始渲染3D画面并响应用户的移动操作。这个状态机模型让程序逻辑清晰，易于扩展和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第一个模块是菜单系统。它是用户与程序交互的入口。主菜单提供了开始新游戏、选择关卡、退出和继续游戏四个选项。用户可以通过按键进行选择和确认。右侧的图片展示了实际在LCD12864上显示的菜单界面。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此外，我们还设计了关卡选择状态，但根据文档记录，这个功能在实际操作中存在一些问题，未能顺利切换地图，这也是我们后续需要改进的地方。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项目的核心技术——游戏渲染。我们采用了经典的射线投射算法。简单来说，就是模拟玩家的眼睛，向屏幕的每一列发射一条虚拟射线。通过计算射线与墙壁的距离，来决定该列应该画多高的竖线。距离越近，线越高，这样就形成了近大远小的3D效果。我们还做了一些优化，比如通过“先读后写”防止像素覆盖，以及在墙角留空来增强立体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激动人心的视频演示环节。我将在这里现场展示整个游戏的运行过程。首先，我会演示主菜单的操作，然后尝试进入游戏。在游戏中，我会展示第一人称的3D迷宫效果，以及前进、后退、转向等基本操作。大家可以看到碰撞检测是如何工作的，以及当我找到终点时会发生什么。最后，我还会演示游戏的存档和读档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jpeg" Type="http://schemas.openxmlformats.org/officeDocument/2006/relationships/image"/><Relationship Id="rId16" Target="../media/image16.jpeg" Type="http://schemas.openxmlformats.org/officeDocument/2006/relationships/image"/><Relationship Id="rId17" Target="../media/image17.jpeg" Type="http://schemas.openxmlformats.org/officeDocument/2006/relationships/image"/><Relationship Id="rId18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8080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基于51单片机的伪3D游戏演示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04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利用射线投射技术在LCD12864上实现3D迷宫效果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810000"/>
            <a:ext cx="1778000" cy="508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44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汇报人：[您的姓名]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95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日期：2026年4月17日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46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▍项目简介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基于STC89C52单片机与LCD12864，实现具有沉浸式体验的伪3D迷宫游戏。核心利用</a:t>
            </a:r>
            <a:r>
              <a:rPr lang="en-US" b="true" i="false" strike="noStrike" u="none" sz="11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射线投射(Ray Casting)</a:t>
            </a: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算法，计算光线与虚拟墙壁的垂直距离，模拟出近大远小的真实透视效果。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3556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1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▍核心功能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41910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多级菜单系统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794000" y="4191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75000" y="4191000"/>
            <a:ext cx="114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3D透视渲染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8260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自由视角控制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2794000" y="4826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3175000" y="4826000"/>
            <a:ext cx="114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智能碰撞检测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461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54610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游戏存档加载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2794000" y="5461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3175000" y="5461000"/>
            <a:ext cx="114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通关判定机制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0" y="1270000"/>
            <a:ext cx="2286000" cy="4953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rcRect l="5555" r="5555" t="0" b="0"/>
          <a:stretch>
            <a:fillRect/>
          </a:stretch>
        </p:blipFill>
        <p:spPr>
          <a:xfrm rot="0" flipH="false" flipV="false">
            <a:off x="4699000" y="1524000"/>
            <a:ext cx="2032000" cy="2286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4699000" y="393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主控核心单元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4445000"/>
            <a:ext cx="2032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826000" y="4572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型号：STC89C52RC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兼容：标准 AT89C52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时钟：11.0592MHz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12000" y="1270000"/>
            <a:ext cx="2286000" cy="4953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rcRect l="5555" r="5555" t="0" b="0"/>
          <a:stretch>
            <a:fillRect/>
          </a:stretch>
        </p:blipFill>
        <p:spPr>
          <a:xfrm rot="0" flipH="false" flipV="false">
            <a:off x="7239000" y="1524000"/>
            <a:ext cx="2032000" cy="2286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8" id="28"/>
          <p:cNvSpPr/>
          <p:nvPr/>
        </p:nvSpPr>
        <p:spPr>
          <a:xfrm rot="0" flipH="false" flipV="false">
            <a:off x="7239000" y="393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显示输出模块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39000" y="4445000"/>
            <a:ext cx="2032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366000" y="4572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型号：LCD12864 (点阵)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驱动：ST7920 并行控制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作用：输出3D画面与UI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652000" y="1270000"/>
            <a:ext cx="2286000" cy="4953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rcRect l="5555" r="5555" t="0" b="0"/>
          <a:stretch>
            <a:fillRect/>
          </a:stretch>
        </p:blipFill>
        <p:spPr>
          <a:xfrm rot="0" flipH="false" flipV="false">
            <a:off x="9779000" y="1524000"/>
            <a:ext cx="2032000" cy="2286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3" id="33"/>
          <p:cNvSpPr/>
          <p:nvPr/>
        </p:nvSpPr>
        <p:spPr>
          <a:xfrm rot="0" flipH="false" flipV="false">
            <a:off x="9779000" y="393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数据存储模块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779000" y="4445000"/>
            <a:ext cx="2032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906000" y="4572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型号：24C02B EEPROM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容量：256 Bytes (2Kbit)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作用：断电保存游戏进度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核心架构：状态机驱动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812800" cy="812800"/>
          </a:xfrm>
          <a:prstGeom prst="ellipse">
            <a:avLst/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93800" y="18923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177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MENU 状态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222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主菜单交互层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626" flipH="false" flipV="false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04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渲染并显示游戏主菜单 UI 界面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实时响应玩家按键，实现选项切换与确认功能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1714500"/>
            <a:ext cx="812800" cy="812800"/>
          </a:xfrm>
          <a:prstGeom prst="ellipse">
            <a:avLst/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76800" y="18923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715000" y="177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LEVEL 状态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5000" y="2222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关卡难度选择层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99000" y="304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提供 Easy / Difficult 等难度选择界面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根据玩家选择加载对应配置的游戏地图资源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1714500"/>
            <a:ext cx="812800" cy="812800"/>
          </a:xfrm>
          <a:prstGeom prst="ellipse">
            <a:avLst/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559800" y="18923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398000" y="177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GAME 状态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98000" y="2222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核心游戏运行层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5626" flipH="false" flipV="false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82000" y="3048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高性能渲染 3D 游戏场景与角色模型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实时响应用户移动、转向等核心操作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持续检测碰撞事件与通关胜利条件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8420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39FF1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6414"/>
                </a:solidFill>
                <a:latin typeface="Noto Sans SC"/>
                <a:ea typeface="Noto Sans SC"/>
                <a:cs typeface="Noto Sans SC"/>
                <a:sym typeface="Noto Sans SC"/>
              </a:rPr>
              <a:t>💡 状态机核心优势：逻辑高度解耦 · 状态切换清晰可控 · 后期功能易于扩展维护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菜单系统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主菜单 · MENU 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界面入口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225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显示 START NEW / CHOICE / EXIT / CONTINUS 四个核心选项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575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按键逻辑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P27 (切换): 上下移动光标\nP33 (确认): 执行选中功能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状态流转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275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START → 初始化进入GAME\nCONTINUS → 读档进入GAME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7625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关卡选择 · LEVEL_CHOICE 逻辑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2705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难度配置与加载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588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选项：Easy / Difficult | 切换(P24)\n确认(P25) 加载地图数据至全局数组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2578" r="2578" t="0" b="0"/>
          <a:stretch>
            <a:fillRect/>
          </a:stretch>
        </p:blipFill>
        <p:spPr>
          <a:xfrm rot="0" flipH="false" flipV="false">
            <a:off x="6477000" y="1778000"/>
            <a:ext cx="4445000" cy="3302000"/>
          </a:xfrm>
          <a:prstGeom prst="roundRect">
            <a:avLst>
              <a:gd name="adj" fmla="val 307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477000" y="5334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37373"/>
                </a:solidFill>
                <a:latin typeface="Noto Sans SC"/>
                <a:ea typeface="Noto Sans SC"/>
                <a:cs typeface="Noto Sans SC"/>
                <a:sym typeface="Noto Sans SC"/>
              </a:rPr>
              <a:t>LCD12864 实际运行界面截图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模块二：游戏渲染（核心技术）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24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核心原理：射线投射 (Ray Casting)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模拟玩家视角，从屏幕每一列发射虚拟射线。通过计算射线与墙壁的垂直距离，动态决定绘制竖线的高度，距离越近线条越高，从而构建出“近大远小”的伪3D视觉效果。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核心流程 (rendertest2 函数)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遍历列：循环扫描LCD的128列像素；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② 发射线：调用cast_ray()计算射线与最近墙壁的距离；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③ 算高度：lineHeight = 系数 / distance，距离越近越高；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④ 绘线条：在当前列绘制 drawStart 到 drawEnd 的垂直像素线。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953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80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 / 关键技术优化细节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461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像素防覆盖：采用“先读后写”策略操作显存，保护邻域像素；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墙角立体感：在墙体竖线中间留空1px，形成物理分割线；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视野控制：利用 camera_x 变量动态调整射线角度，模拟广角视野。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6605" r="6605" t="0" b="0"/>
          <a:stretch>
            <a:fillRect/>
          </a:stretch>
        </p:blipFill>
        <p:spPr>
          <a:xfrm rot="0" flipH="false" flipV="false">
            <a:off x="6096000" y="2286000"/>
            <a:ext cx="5207000" cy="2286000"/>
          </a:xfrm>
          <a:prstGeom prst="roundRect">
            <a:avLst>
              <a:gd name="adj" fmla="val 4444"/>
            </a:avLst>
          </a:prstGeom>
          <a:noFill/>
          <a:ln w="25400" cmpd="sng" cap="flat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dir="5400000" dist="63500" blurRad="1524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视频演示环节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(此页用于现场演示，请连接好硬件并准备运行程序)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76200" cy="1905000"/>
          </a:xfrm>
          <a:prstGeom prst="roundRect">
            <a:avLst>
              <a:gd name="adj" fmla="val 200000"/>
            </a:avLst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1905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31900" y="20574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95500" y="1905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主菜单交互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95500" y="24130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演示按键在 START NEW / CHOICE / EXIT / CONTINUS 间的切换逻辑，并完整演示 EXIT 退出功能。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76200" cy="1905000"/>
          </a:xfrm>
          <a:prstGeom prst="roundRect">
            <a:avLst>
              <a:gd name="adj" fmla="val 200000"/>
            </a:avLst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0500" y="1905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92900" y="20574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556500" y="1905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 关卡难度选择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56500" y="24130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 CHOICE 进入关卡界面，演示 Easy 与 Difficult 难度的切换流程。(注：该功能模块稳定性待定)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10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810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79500" y="4064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31900" y="42164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095500" y="406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/ 核心游戏运行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095500" y="45720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进入第一人称3D迷宫，演示前后移动与转向；重点展示墙壁碰撞检测逻辑，并尝试演示终点通关画面。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3810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3810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40500" y="4064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92900" y="42164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556500" y="406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/ 存档与读档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556500" y="45720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游戏中按ESC触发实时保存；重启程序后选择 CONTINUS，完整演示游戏状态的加载与恢复过程。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0F2F5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60071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524000" y="60071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讲解提示：演示时请结合实时操作，解说背后的代码逻辑，例如“按下前进键时，程序调用 move_forward() 函数并执行碰撞检测...”。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